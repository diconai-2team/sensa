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66" r:id="rId17"/>
    <p:sldId id="267" r:id="rId18"/>
    <p:sldId id="268" r:id="rId19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1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디코나이 · 산업안전 통합 관제 플랫폼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센서 모니터링 · 위험구역 확산 예측 · 알람 · AI 이상탐지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466344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60120" y="4736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➕ 팀명 · 발표자 · 발표일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51389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OO팀 · 홍길동 · 2026.06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0" y="5029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Django(daphne) · FastAPI · Celery · Redis · PostgreSQL · Kubernetes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프로젝트명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(디코나이)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페이지 링크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➕ 배포 URL 작성 ]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제작 기간  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➕ 기간 작성 ]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목표       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센서→판정→알람 지연 최소화, 위험구역 자동 확산·승격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53872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· 역할 (기여 경계)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822192"/>
          <a:ext cx="5157216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30358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(코드 기준)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[본인]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백엔드·인프라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지오펜스·생성기·실시간·K8s·관측·알람흐름·부하절감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 팀원]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가스 분류 임계(classify_gas)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 팀원]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Power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동적 임계(classify_power)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 팀원]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AI/Alarm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ARIMA · IsolationForest 알고리즘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71500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EAF3EE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5788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요약  </a:t>
            </a:r>
            <a:pPr indent="0" marL="0">
              <a:buNone/>
            </a:pPr>
            <a:r>
              <a:rPr lang="en-US" sz="100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주기 센서 데이터를 Django 단일 출처에서 판정·저장·방송하고, 가스 확산을 그레이엄 법칙으로 동적 위험구역화하는 실시간 산업안전 플랫폼.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1371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1500" dirty="0"/>
          </a:p>
        </p:txBody>
      </p:sp>
      <p:pic>
        <p:nvPicPr>
          <p:cNvPr id="13" name="Image 0" descr="/home/claude/SenSa_아키텍처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0432" y="1691640"/>
            <a:ext cx="3687097" cy="4572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63550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고해상도 원본(PNG/SVG) 별도 제공 — 슬라이드 확대 시 교체 가능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COMPLETENESS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완성도 — API 기능 구현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REST Framework 기반 — CRUD · 인증 · 실시간 수신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체인: InternalAPIKey(생성기) → JWT → Session (브라우저)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ViewSet(표준 CRUD) + APIView(센서 수신·지오펜스 판정) 혼합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수신은 csrf_exempt APIView — 생성기 X-Internal-API-Key 인증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6758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API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959352"/>
          <a:ext cx="515721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67665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엔드포인트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 수신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/dashboard/api/sensor-data/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지오펜스 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/dashboard/api/check-geofence/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CRUD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/api/devices/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알람 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/api/alarms/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13232" y="5943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[➕] = curl/Insomnia 검증 결과(200/401/403) 기입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API 요청·응답 검증 스크린샷 ]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 또는 Insomnia 캡처 2~3장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 본문 / 200·401·403 응답)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TECH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처리 — WebSocket /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아키텍처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ASGI(daphne)로 구동 — HTTP + WebSocket 동시 처리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DashboardConsumer 1개 연결로 4그룹 구독(알람·작업자·센서·구역)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connect()에서 인증 확인 → 미인증 4001 차단 (Origin 검증 포함)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publishers._send 단일 통로 — 채널 장애 시 예외 흡수(저장 보호)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85876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/ 포인트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5074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 실패가 DB 저장·HTTP 응답을 죽이지 않음 (graceful degradation)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방송과 동시에 '최신 상태 캐시' 갱신 → 첫 로드 시 DB 조회 절감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단일 출처 — 평가기 내부 1회 발행으로 중복 토스트 제거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Grafana 실시간 패널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 연결 수(ws_connections_active)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처리 지연(p95) 패널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TECH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수집 &amp; AI 이상탐지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흐름 (임시저장소 없음)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생성기: scheduler 1초 틱 → httpx로 DRF에 직접 POST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생성기는 sim_state(값 연속성) 메모리만 — 큐·버퍼 없음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SensorDataView가 수신 후 내부에서 저장·분류·방송·평가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저장·AI는 5초 throttle(Redis SET NX EX), 방송·평가는 매 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99592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(경량 시계열)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5074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ARIMA(1,1,1): 잔차 3σ 이상탐지 (전력은 status를 caution으로 격상)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IsolationForest: 추세 예측 + 사후 검증(verify_predictions)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부재 시 선형 외삽으로 graceful degrade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[➕ 팀원] 알고리즘 내부 파라미터·정확도 보강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흐름도 / AI 결과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1건 처리 흐름도(별도 제공) 또는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ARIMA·IF 탐지 그래프 / 예측 적중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위험구역 확산 &amp; 알람 로직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위험구역 (그레이엄 확산)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그레이엄 법칙(v∝1/√M) — 가벼운 가스일수록 빨리 확산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convex hull 직접 구현(Andrew monotone chain, scipy 無)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승격: 이웃 센서 이상 누적 → 1개=confirmed, 3개=critical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만료 + 회복 만료(최근 5건 normal)로 좀비 구역 방지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99592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(떨림·폭주 방지)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5074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hysteresis: 악화 즉시 / 회복 보수적(윈도우 10초·7회)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observed별 독립 윈도우 카운터 → V자 진동 차단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알람 60초 throttle, 억제 건수를 메트릭으로 노출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 승격·동적 위험구역 생성 시에만 Discord (caution 제외)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위험구역 확산 시각화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화면에서 zone 생성→확장→critical 승격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/ ZoneEvent 로그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CONCURRENCY &amp; 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처리 &amp; 부하 절감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절감 게이트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_should_persist / _ai_due: device별 5초 창당 1회만 실행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cache.add = Redis SET NX EX(원자적) → 다중 Pod에서도 창당 1회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장애 시 실행(True) 폴백 — 데이터 유실 방지(안전 우선)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백업·삭제는 Celery 오프로드 + 청크 처리(probe 보호)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/ 복원력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state_store _graceful_redis: ConnectionError만 흡수, 그 외 전파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장애 시 기본 스냅샷 반환 → 판정 멈추지 않음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부수효과(방송·외부알림·메트릭) try/except 격리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부하 테스트(Locust) 그래프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전/후 Request Latency·RPS 비교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100명 8분 → 150명 5분)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MODEL &amp; PERF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· 인덱싱 &amp; 성능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설계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SensorData: 가스9+전력3+온도 단일 테이블(조회 단순, sparse 감수)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인덱스 (device, -timestamp) → '최신 N건' 조회 최적화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Device.status 비정규화 — 상태 전이 시 즉시 save(평소 UPDATE 솎음)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GeoFence 정적+동적 통합 — point_in_polygon 진입 판정 공유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/ 보존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DataRetentionPolicy로 오래된 측정 자동 정리(테이블 비대 방지)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neighbor_graph: 거리 행렬 메모리 캐시(O(N²), lazy load)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[➕ 팀원] 인덱스 전/후 쿼리 EXPLAIN·응답시간 수치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모델 코드 / 측정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models.py 인덱스 정의 스니펫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적용 전후 p95·RPS 표/그래프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&amp; 모니터링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Prometheus가 Pod IP 직접 scrape (django:8000 · celery:9809 · redis_exporter)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Celery prefork → multiprocess mode로 메트릭 합산(:9809)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 대시보드 · Alertmanager(alert_rules.yml) → Discord/Slack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생성·억제(throttle) 건수를 비즈니스 메트릭으로 노출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AF3EE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겪고 해결한 운영 이슈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ALLOWED_HOSTS 좁힘 → Prometheus scrape 400 → '*'로 해결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celery-metrics Service env(tcp://...) → 포트 방어 파싱으로 크래시 차단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Grafana 대시보드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패널: 접속자 수 / p95 지연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RPS / 알람·억제 건수 / 타깃 상태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&amp;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· 배포 &amp; 솔직한 한계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/ 배포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83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kind 단일노드 · namespace sensa · HPA(django 2~5, CPU 70%)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ingress-nginx(입구) → daphne 직접 (앞단 별도 Nginx 없음)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= initContainer 자동 실행 / 무중단 rolling update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redeploy.sh: build → push(localhost:5000) → set image → rollout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BF1E3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한계 &amp; 후속 (먼저 인정)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Redis/PostgreSQL = SPOF (데모 범위 단순화)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 3중 소스(코드·DB·JS) 단일화 / NotificationLog 동명 통합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API 페이지네이션 · 시연 전용 라우트 정리 (발표 후)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16302B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1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원칙 (4)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단일 발행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알람은 평가기 한 곳에서만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graceful degradation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부수 실패가 본류를 안 막음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부하 게이트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무거운 작업은 throttle·오프로드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운영 흔적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실제 겪은 사건이 코드·주석에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532120" cy="2240280"/>
          </a:xfrm>
          <a:prstGeom prst="roundRect">
            <a:avLst>
              <a:gd name="adj" fmla="val 2449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217920" y="4759452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데모 / Q&amp;A 마무리 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5161788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화면 또는 감사 인사 슬라이드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(질의응답 대비: 코드방어 QA 문서 활용)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PIPELINE · A to Z</a:t>
            </a:r>
          </a:p>
        </p:txBody>
      </p:sp>
      <p:sp>
        <p:nvSpPr>
          <p:cNvPr id="3" name="Title"/>
          <p:cNvSpPr/>
          <p:nvPr/>
        </p:nvSpPr>
        <p:spPr>
          <a:xfrm>
            <a:off x="530352" y="640080"/>
            <a:ext cx="1113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— 센서 1건이 화면에 뜨기까지</a:t>
            </a:r>
          </a:p>
        </p:txBody>
      </p:sp>
      <p:sp>
        <p:nvSpPr>
          <p:cNvPr id="4" name="Subhead1"/>
          <p:cNvSpPr/>
          <p:nvPr/>
        </p:nvSpPr>
        <p:spPr>
          <a:xfrm>
            <a:off x="696000" y="1320000"/>
            <a:ext cx="50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수집 → 판정</a:t>
            </a:r>
          </a:p>
        </p:txBody>
      </p:sp>
      <p:sp>
        <p:nvSpPr>
          <p:cNvPr id="5" name="Subhead2"/>
          <p:cNvSpPr/>
          <p:nvPr/>
        </p:nvSpPr>
        <p:spPr>
          <a:xfrm>
            <a:off x="696000" y="3400000"/>
            <a:ext cx="50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방송 → 표시 · 관측</a:t>
            </a:r>
          </a:p>
        </p:txBody>
      </p:sp>
      <p:sp>
        <p:nvSpPr>
          <p:cNvPr id="10" name="c1"/>
          <p:cNvSpPr/>
          <p:nvPr/>
        </p:nvSpPr>
        <p:spPr>
          <a:xfrm>
            <a:off x="696000" y="160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F2F6F4"/>
          </a:solidFill>
          <a:ln w="9525">
            <a:solidFill>
              <a:srgbClr val="CBD8D2"/>
            </a:solidFill>
          </a:ln>
        </p:spPr>
      </p:sp>
      <p:sp>
        <p:nvSpPr>
          <p:cNvPr id="11" name="c1t"/>
          <p:cNvSpPr/>
          <p:nvPr/>
        </p:nvSpPr>
        <p:spPr>
          <a:xfrm>
            <a:off x="806000" y="169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센서 생성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1초 틱 → httpx POST (큐 없음)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fastapi_generator/scheduler.py</a:t>
            </a:r>
          </a:p>
        </p:txBody>
      </p:sp>
      <p:sp>
        <p:nvSpPr>
          <p:cNvPr id="12" name="c2"/>
          <p:cNvSpPr/>
          <p:nvPr/>
        </p:nvSpPr>
        <p:spPr>
          <a:xfrm>
            <a:off x="3476000" y="160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F2F6F4"/>
          </a:solidFill>
          <a:ln w="9525">
            <a:solidFill>
              <a:srgbClr val="CBD8D2"/>
            </a:solidFill>
          </a:ln>
        </p:spPr>
      </p:sp>
      <p:sp>
        <p:nvSpPr>
          <p:cNvPr id="13" name="c2t"/>
          <p:cNvSpPr/>
          <p:nvPr/>
        </p:nvSpPr>
        <p:spPr>
          <a:xfrm>
            <a:off x="3586000" y="169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DRF 단일 수신구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부하게이트 5초창 (Redis SET NX)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devices/views.py</a:t>
            </a:r>
          </a:p>
        </p:txBody>
      </p:sp>
      <p:sp>
        <p:nvSpPr>
          <p:cNvPr id="14" name="c3"/>
          <p:cNvSpPr/>
          <p:nvPr/>
        </p:nvSpPr>
        <p:spPr>
          <a:xfrm>
            <a:off x="6256000" y="160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F2F6F4"/>
          </a:solidFill>
          <a:ln w="9525">
            <a:solidFill>
              <a:srgbClr val="CBD8D2"/>
            </a:solidFill>
          </a:ln>
        </p:spPr>
      </p:sp>
      <p:sp>
        <p:nvSpPr>
          <p:cNvPr id="15" name="c3t"/>
          <p:cNvSpPr/>
          <p:nvPr/>
        </p:nvSpPr>
        <p:spPr>
          <a:xfrm>
            <a:off x="6366000" y="169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임계치 + AI 탐지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ARIMA 3σ + IsolationForest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alerts/services/anomaly_detector.py</a:t>
            </a:r>
          </a:p>
        </p:txBody>
      </p:sp>
      <p:sp>
        <p:nvSpPr>
          <p:cNvPr id="16" name="c4"/>
          <p:cNvSpPr/>
          <p:nvPr/>
        </p:nvSpPr>
        <p:spPr>
          <a:xfrm>
            <a:off x="9036000" y="160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 w="12700">
            <a:solidFill>
              <a:srgbClr val="0F6E56"/>
            </a:solidFill>
          </a:ln>
        </p:spPr>
      </p:sp>
      <p:sp>
        <p:nvSpPr>
          <p:cNvPr id="17" name="c4t"/>
          <p:cNvSpPr/>
          <p:nvPr/>
        </p:nvSpPr>
        <p:spPr>
          <a:xfrm>
            <a:off x="9146000" y="169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판정·알람 단일출처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official vs observed 비교 → 발행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alerts/services/sensor_evaluator.py</a:t>
            </a:r>
          </a:p>
        </p:txBody>
      </p:sp>
      <p:sp>
        <p:nvSpPr>
          <p:cNvPr id="20" name="a1"/>
          <p:cNvSpPr/>
          <p:nvPr/>
        </p:nvSpPr>
        <p:spPr>
          <a:xfrm>
            <a:off x="3176000" y="2280000"/>
            <a:ext cx="280000" cy="200000"/>
          </a:xfrm>
          <a:prstGeom prst="rightArrow">
            <a:avLst/>
          </a:prstGeom>
          <a:solidFill>
            <a:srgbClr val="9DB5AC"/>
          </a:solidFill>
          <a:ln/>
        </p:spPr>
      </p:sp>
      <p:sp>
        <p:nvSpPr>
          <p:cNvPr id="21" name="a2"/>
          <p:cNvSpPr/>
          <p:nvPr/>
        </p:nvSpPr>
        <p:spPr>
          <a:xfrm>
            <a:off x="5956000" y="2280000"/>
            <a:ext cx="280000" cy="200000"/>
          </a:xfrm>
          <a:prstGeom prst="rightArrow">
            <a:avLst/>
          </a:prstGeom>
          <a:solidFill>
            <a:srgbClr val="9DB5AC"/>
          </a:solidFill>
          <a:ln/>
        </p:spPr>
      </p:sp>
      <p:sp>
        <p:nvSpPr>
          <p:cNvPr id="22" name="a3"/>
          <p:cNvSpPr/>
          <p:nvPr/>
        </p:nvSpPr>
        <p:spPr>
          <a:xfrm>
            <a:off x="8736000" y="2280000"/>
            <a:ext cx="280000" cy="200000"/>
          </a:xfrm>
          <a:prstGeom prst="rightArrow">
            <a:avLst/>
          </a:prstGeom>
          <a:solidFill>
            <a:srgbClr val="9DB5AC"/>
          </a:solidFill>
          <a:ln/>
        </p:spPr>
      </p:sp>
      <p:sp>
        <p:nvSpPr>
          <p:cNvPr id="23" name="adown"/>
          <p:cNvSpPr/>
          <p:nvPr/>
        </p:nvSpPr>
        <p:spPr>
          <a:xfrm>
            <a:off x="10166000" y="3180000"/>
            <a:ext cx="200000" cy="280000"/>
          </a:xfrm>
          <a:prstGeom prst="downArrow">
            <a:avLst/>
          </a:prstGeom>
          <a:solidFill>
            <a:srgbClr val="0F6E56"/>
          </a:solidFill>
          <a:ln/>
        </p:spPr>
      </p:sp>
      <p:sp>
        <p:nvSpPr>
          <p:cNvPr id="30" name="c5"/>
          <p:cNvSpPr/>
          <p:nvPr/>
        </p:nvSpPr>
        <p:spPr>
          <a:xfrm>
            <a:off x="696000" y="368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F2F6F4"/>
          </a:solidFill>
          <a:ln w="9525">
            <a:solidFill>
              <a:srgbClr val="CBD8D2"/>
            </a:solidFill>
          </a:ln>
        </p:spPr>
      </p:sp>
      <p:sp>
        <p:nvSpPr>
          <p:cNvPr id="31" name="c5t"/>
          <p:cNvSpPr/>
          <p:nvPr/>
        </p:nvSpPr>
        <p:spPr>
          <a:xfrm>
            <a:off x="806000" y="377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Redis 최신상태 캐시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graceful — 장애 시 기본 스냅샷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alerts/state_store.py</a:t>
            </a:r>
          </a:p>
        </p:txBody>
      </p:sp>
      <p:sp>
        <p:nvSpPr>
          <p:cNvPr id="32" name="c6"/>
          <p:cNvSpPr/>
          <p:nvPr/>
        </p:nvSpPr>
        <p:spPr>
          <a:xfrm>
            <a:off x="3476000" y="368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F2F6F4"/>
          </a:solidFill>
          <a:ln w="9525">
            <a:solidFill>
              <a:srgbClr val="CBD8D2"/>
            </a:solidFill>
          </a:ln>
        </p:spPr>
      </p:sp>
      <p:sp>
        <p:nvSpPr>
          <p:cNvPr id="33" name="c6t"/>
          <p:cNvSpPr/>
          <p:nvPr/>
        </p:nvSpPr>
        <p:spPr>
          <a:xfrm>
            <a:off x="3586000" y="377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Channel Layer 방송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1연결 4그룹 구독 → WebSocket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realtime/publishers.py · consumers.py</a:t>
            </a:r>
          </a:p>
        </p:txBody>
      </p:sp>
      <p:sp>
        <p:nvSpPr>
          <p:cNvPr id="34" name="c7"/>
          <p:cNvSpPr/>
          <p:nvPr/>
        </p:nvSpPr>
        <p:spPr>
          <a:xfrm>
            <a:off x="6256000" y="368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F2F6F4"/>
          </a:solidFill>
          <a:ln w="9525">
            <a:solidFill>
              <a:srgbClr val="CBD8D2"/>
            </a:solidFill>
          </a:ln>
        </p:spPr>
      </p:sp>
      <p:sp>
        <p:nvSpPr>
          <p:cNvPr id="35" name="c7t"/>
          <p:cNvSpPr/>
          <p:nvPr/>
        </p:nvSpPr>
        <p:spPr>
          <a:xfrm>
            <a:off x="6366000" y="377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위험구역 · 외부알림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그레이엄+convex hull · Celery 알림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geofence/* · alerts/notifiers.py</a:t>
            </a:r>
          </a:p>
        </p:txBody>
      </p:sp>
      <p:sp>
        <p:nvSpPr>
          <p:cNvPr id="36" name="c8"/>
          <p:cNvSpPr/>
          <p:nvPr/>
        </p:nvSpPr>
        <p:spPr>
          <a:xfrm>
            <a:off x="9036000" y="3680000"/>
            <a:ext cx="2460000" cy="1560000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 w="12700">
            <a:solidFill>
              <a:srgbClr val="0F6E56"/>
            </a:solidFill>
          </a:ln>
        </p:spPr>
      </p:sp>
      <p:sp>
        <p:nvSpPr>
          <p:cNvPr id="37" name="c8t"/>
          <p:cNvSpPr/>
          <p:nvPr/>
        </p:nvSpPr>
        <p:spPr>
          <a:xfrm>
            <a:off x="9146000" y="3770000"/>
            <a:ext cx="22400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화면 표시 + 관측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+ Prometheus → Grafana</a:t>
            </a:r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onsolas" pitchFamily="49" charset="0"/>
                <a:ea typeface="Malgun Gothic" pitchFamily="34" charset="-122"/>
                <a:cs typeface="Malgun Gothic" pitchFamily="34" charset="-120"/>
              </a:rPr>
              <a:t>sensa_observability/</a:t>
            </a:r>
          </a:p>
        </p:txBody>
      </p:sp>
      <p:sp>
        <p:nvSpPr>
          <p:cNvPr id="40" name="b1"/>
          <p:cNvSpPr/>
          <p:nvPr/>
        </p:nvSpPr>
        <p:spPr>
          <a:xfrm>
            <a:off x="3176000" y="4360000"/>
            <a:ext cx="280000" cy="200000"/>
          </a:xfrm>
          <a:prstGeom prst="rightArrow">
            <a:avLst/>
          </a:prstGeom>
          <a:solidFill>
            <a:srgbClr val="9DB5AC"/>
          </a:solidFill>
          <a:ln/>
        </p:spPr>
      </p:sp>
      <p:sp>
        <p:nvSpPr>
          <p:cNvPr id="41" name="b2"/>
          <p:cNvSpPr/>
          <p:nvPr/>
        </p:nvSpPr>
        <p:spPr>
          <a:xfrm>
            <a:off x="5956000" y="4360000"/>
            <a:ext cx="280000" cy="200000"/>
          </a:xfrm>
          <a:prstGeom prst="rightArrow">
            <a:avLst/>
          </a:prstGeom>
          <a:solidFill>
            <a:srgbClr val="9DB5AC"/>
          </a:solidFill>
          <a:ln/>
        </p:spPr>
      </p:sp>
      <p:sp>
        <p:nvSpPr>
          <p:cNvPr id="42" name="b3"/>
          <p:cNvSpPr/>
          <p:nvPr/>
        </p:nvSpPr>
        <p:spPr>
          <a:xfrm>
            <a:off x="8736000" y="4360000"/>
            <a:ext cx="280000" cy="200000"/>
          </a:xfrm>
          <a:prstGeom prst="rightArrow">
            <a:avLst/>
          </a:prstGeom>
          <a:solidFill>
            <a:srgbClr val="9DB5AC"/>
          </a:solidFill>
          <a:ln/>
        </p:spPr>
      </p:sp>
      <p:sp>
        <p:nvSpPr>
          <p:cNvPr id="50" name="note"/>
          <p:cNvSpPr/>
          <p:nvPr/>
        </p:nvSpPr>
        <p:spPr>
          <a:xfrm>
            <a:off x="696000" y="5440000"/>
            <a:ext cx="10800000" cy="320000"/>
          </a:xfrm>
          <a:prstGeom prst="roundRect">
            <a:avLst>
              <a:gd name="adj" fmla="val 16000"/>
            </a:avLst>
          </a:prstGeom>
          <a:solidFill>
            <a:srgbClr val="FBF1E3"/>
          </a:solidFill>
          <a:ln w="9525">
            <a:solidFill>
              <a:srgbClr val="E3C58C"/>
            </a:solidFill>
          </a:ln>
        </p:spPr>
        <p:txBody>
          <a:bodyPr wrap="square" rtlCol="0" lIns="9144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핵심 원칙 — </a:t>
            </a:r>
            <a:r>
              <a:rPr lang="en-US" sz="1000" dirty="0">
                <a:solidFill>
                  <a:srgbClr val="6B4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판정·알람은 evaluate_sensor 한 곳에서만 발행(단일 출처) · 부수 작업 실패는 본류를 막지 않음(graceful degradation)</a:t>
            </a:r>
          </a:p>
        </p:txBody>
      </p:sp>
      <p:sp>
        <p:nvSpPr>
          <p:cNvPr id="60" name="foo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</a:p>
        </p:txBody>
      </p:sp>
      <p:sp>
        <p:nvSpPr>
          <p:cNvPr id="61" name="pg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 to DELIVERY (1)</a:t>
            </a:r>
          </a:p>
        </p:txBody>
      </p:sp>
      <p:sp>
        <p:nvSpPr>
          <p:cNvPr id="3" name="Title"/>
          <p:cNvSpPr/>
          <p:nvPr/>
        </p:nvSpPr>
        <p:spPr>
          <a:xfrm>
            <a:off x="530352" y="640080"/>
            <a:ext cx="1113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디코나이 R&amp;D 세부목적 ↔ 우리 이행</a:t>
            </a:r>
          </a:p>
        </p:txBody>
      </p:sp>
      <p:graphicFrame>
        <p:nvGraphicFramePr>
          <p:cNvPr id="100" name="tbl"/>
          <p:cNvGraphicFramePr/>
          <p:nvPr/>
        </p:nvGraphicFramePr>
        <p:xfrm>
          <a:off x="548640" y="1460000"/>
          <a:ext cx="11094720" cy="4600000"/>
        </p:xfrm>
        <a:graphic>
          <a:graphicData uri="http://schemas.openxmlformats.org/drawingml/2006/table">
            <a:tbl>
              <a:tblPr firstRow="1" bandRow="1"/>
              <a:tblGrid>
                <a:gridCol w="470000"/>
                <a:gridCol w="4400000"/>
                <a:gridCol w="700000"/>
                <a:gridCol w="5524720"/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60000" marR="6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디코나이 요구 (세부목적)</a:t>
                      </a:r>
                    </a:p>
                  </a:txBody>
                  <a:tcPr marL="100000" marR="6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이행</a:t>
                      </a:r>
                    </a:p>
                  </a:txBody>
                  <a:tcPr marL="40000" marR="4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 — 코드 경로</a:t>
                      </a:r>
                    </a:p>
                  </a:txBody>
                  <a:tcPr marL="100000" marR="60000" anchor="ctr">
                    <a:solidFill>
                      <a:srgbClr val="0F6E56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안전 데이터 통합 관리 (가스/전력/위치)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devices/models.py · devices/views.py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6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직관적 관제 대시보드 (지도 기반 통합)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</a:t>
                      </a:r>
                    </a:p>
                  </a:txBody>
                  <a:tcPr marL="40000" marR="4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dashboard/ · 기능명세서 §3 지도 7탭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위험구역(지오펜스) 기반 안전관리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geofence/ (diffusion·polygon·lifecycle) · worker_evaluator.py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6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임계치 기반 위험감지 (정상/주의/위험 자동분류)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</a:t>
                      </a:r>
                    </a:p>
                  </a:txBody>
                  <a:tcPr marL="40000" marR="4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alerts/services/classifiers.py · 백오피스 임계치 §21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기반 이상탐지·예측 (ARIMA 등)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C277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✓+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anomaly_detector.py · arima_forecast.py · trend_predictor.py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6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알림·대응 + 이력관리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</a:t>
                      </a:r>
                    </a:p>
                  </a:txBody>
                  <a:tcPr marL="40000" marR="4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realtime/ · alerts/tasks.py · notifiers.py · 이벤트이력 §22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환경 MVP (Docker / 클라우드 배포)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C277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✓+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docker-compose.yml · manifests/ (K8s 11종)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legend"/>
          <p:cNvSpPr/>
          <p:nvPr/>
        </p:nvSpPr>
        <p:spPr>
          <a:xfrm>
            <a:off x="548640" y="6150000"/>
            <a:ext cx="1109472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>
                <a:solidFill>
                  <a:srgbClr val="5F6B68"/>
                </a:solidFill>
                <a:latin typeface="Malgun Gothic"/>
                <a:ea typeface="Malgun Gothic"/>
                <a:cs typeface="Malgun Gothic"/>
              </a:rPr>
              <a:t>✓ = 요구 충족 · ✓+ = 요구 초과 이행 (ARIMA 단일 요구 → ARIMA+IsolationForest 2종 / Docker 요구 → K8s·HPA까지)</a:t>
            </a:r>
          </a:p>
        </p:txBody>
      </p:sp>
      <p:sp>
        <p:nvSpPr>
          <p:cNvPr id="60" name="foo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</a:p>
        </p:txBody>
      </p:sp>
      <p:sp>
        <p:nvSpPr>
          <p:cNvPr id="61" name="pg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 to DELIVERY (2)</a:t>
            </a:r>
          </a:p>
        </p:txBody>
      </p:sp>
      <p:sp>
        <p:nvSpPr>
          <p:cNvPr id="3" name="Title"/>
          <p:cNvSpPr/>
          <p:nvPr/>
        </p:nvSpPr>
        <p:spPr>
          <a:xfrm>
            <a:off x="530352" y="640080"/>
            <a:ext cx="1113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 작업영역 7개 ↔ 완료기준 이행 + 솔직한 차이</a:t>
            </a:r>
          </a:p>
        </p:txBody>
      </p:sp>
      <p:graphicFrame>
        <p:nvGraphicFramePr>
          <p:cNvPr id="100" name="tbl"/>
          <p:cNvGraphicFramePr/>
          <p:nvPr/>
        </p:nvGraphicFramePr>
        <p:xfrm>
          <a:off x="548640" y="1420000"/>
          <a:ext cx="11094720" cy="4060000"/>
        </p:xfrm>
        <a:graphic>
          <a:graphicData uri="http://schemas.openxmlformats.org/drawingml/2006/table">
            <a:tbl>
              <a:tblPr firstRow="1" bandRow="1"/>
              <a:tblGrid>
                <a:gridCol w="2250000"/>
                <a:gridCol w="4350000"/>
                <a:gridCol w="4494720"/>
              </a:tblGrid>
              <a:tr h="42000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작업영역</a:t>
                      </a:r>
                    </a:p>
                  </a:txBody>
                  <a:tcPr marL="100000" marR="6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완료기준 (디코나이)</a:t>
                      </a:r>
                    </a:p>
                  </a:txBody>
                  <a:tcPr marL="100000" marR="6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이행 증빙 — 코드 경로</a:t>
                      </a:r>
                    </a:p>
                  </a:txBody>
                  <a:tcPr marL="100000" marR="60000" anchor="ctr">
                    <a:solidFill>
                      <a:srgbClr val="0F6E56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AI 이상탐지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ARIMA 예측·잔차 비교·DB저장·시나리오 재현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anomaly_detector · arima_forecast · trend_predictor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Celery 비동기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task 등록·Redis broker·외부알림 비차단·재시도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mysite/celery.py · alerts/tasks.py · backoffice/tasks.py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Redis 도입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최신상태 캐시·장애 무중단·역할분리(캐시/Broker/방송)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alerts/state_store.py · cache.add (SET NX EX)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모니터링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/metrics 노출·Prometheus 수집·Grafana·병목 구분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sensa_observability/ · mysite/celery_metrics.py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알림 고도화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WS 즉시·외부채널·중복억제·전송이력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notifiers.py · 60s throttle · NotificationLog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 Docker 구성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4서비스 분리·일괄 기동·DB 영속성·.env 분리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docker-compose.yml · pgdata volume · .env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 Kubernetes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Deploy·Service·Ingress·HPA 자동확장·Pod 복구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3A4744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manifests/01~11 · HPA min2/max5 (CPU 70%)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honest"/>
          <p:cNvSpPr/>
          <p:nvPr/>
        </p:nvSpPr>
        <p:spPr>
          <a:xfrm>
            <a:off x="548640" y="5560000"/>
            <a:ext cx="11094720" cy="800000"/>
          </a:xfrm>
          <a:prstGeom prst="roundRect">
            <a:avLst>
              <a:gd name="adj" fmla="val 6000"/>
            </a:avLst>
          </a:prstGeom>
          <a:solidFill>
            <a:srgbClr val="FBF1E3"/>
          </a:solidFill>
          <a:ln w="12700">
            <a:solidFill>
              <a:srgbClr val="C2772E"/>
            </a:solidFill>
          </a:ln>
        </p:spPr>
        <p:txBody>
          <a:bodyPr wrap="square" rtlCol="0" lIns="118000" tIns="6000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A5B16"/>
                </a:solidFill>
                <a:latin typeface="Malgun Gothic"/>
                <a:ea typeface="Malgun Gothic"/>
                <a:cs typeface="Malgun Gothic"/>
              </a:rPr>
              <a:t>솔직한 이행 차이 (의도된 설계 선택)</a:t>
            </a:r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4A1E"/>
                </a:solidFill>
                <a:latin typeface="Malgun Gothic"/>
                <a:ea typeface="Malgun Gothic"/>
                <a:cs typeface="Malgun Gothic"/>
              </a:rPr>
              <a:t>① 수집 — Redis Pub/Sub 대신 DRF 직접 POST : 판정·알람을 한 곳에서만 발행하는 '단일 출처' 원칙을 위해. 폭주는 부하게이트로 흡수.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6B4A1E"/>
                </a:solidFill>
                <a:latin typeface="Malgun Gothic"/>
                <a:ea typeface="Malgun Gothic"/>
                <a:cs typeface="Malgun Gothic"/>
              </a:rPr>
              <a:t>② AI 추론 — Celery 오프로드 대신 인라인 + 5초 부하게이트 : 경량 모델 지연 최소화. Celery는 외부알림·zone tick·정리/백업에 사용.</a:t>
            </a:r>
          </a:p>
        </p:txBody>
      </p:sp>
      <p:sp>
        <p:nvSpPr>
          <p:cNvPr id="60" name="foo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</a:p>
        </p:txBody>
      </p:sp>
      <p:sp>
        <p:nvSpPr>
          <p:cNvPr id="61" name="pg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&amp; CONTRIBUTION</a:t>
            </a:r>
          </a:p>
        </p:txBody>
      </p:sp>
      <p:sp>
        <p:nvSpPr>
          <p:cNvPr id="3" name="Title"/>
          <p:cNvSpPr/>
          <p:nvPr/>
        </p:nvSpPr>
        <p:spPr>
          <a:xfrm>
            <a:off x="530352" y="640080"/>
            <a:ext cx="1113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역할 분담 &amp; 기여 현황</a:t>
            </a:r>
          </a:p>
        </p:txBody>
      </p:sp>
      <p:graphicFrame>
        <p:nvGraphicFramePr>
          <p:cNvPr id="100" name="tbl"/>
          <p:cNvGraphicFramePr/>
          <p:nvPr/>
        </p:nvGraphicFramePr>
        <p:xfrm>
          <a:off x="548640" y="1500000"/>
          <a:ext cx="11094720" cy="4230000"/>
        </p:xfrm>
        <a:graphic>
          <a:graphicData uri="http://schemas.openxmlformats.org/drawingml/2006/table">
            <a:tbl>
              <a:tblPr firstRow="1" bandRow="1"/>
              <a:tblGrid>
                <a:gridCol w="1850000"/>
                <a:gridCol w="6750000"/>
                <a:gridCol w="1150000"/>
                <a:gridCol w="1344720"/>
              </a:tblGrid>
              <a:tr h="43000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</a:t>
                      </a:r>
                    </a:p>
                  </a:txBody>
                  <a:tcPr marL="100000" marR="6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담당 영역</a:t>
                      </a:r>
                    </a:p>
                  </a:txBody>
                  <a:tcPr marL="100000" marR="6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세부기능</a:t>
                      </a:r>
                    </a:p>
                  </a:txBody>
                  <a:tcPr marL="40000" marR="40000" anchor="ctr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비중</a:t>
                      </a:r>
                    </a:p>
                  </a:txBody>
                  <a:tcPr marL="40000" marR="40000" anchor="ctr">
                    <a:solidFill>
                      <a:srgbClr val="0F6E56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 xml:space="preserve">최서원 </a:t>
                      </a:r>
                      <a:r>
                        <a:rPr lang="en-US" sz="900">
                          <a:solidFill>
                            <a:srgbClr val="5F6B6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csw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뼈대·로그인/회원가입·대시보드 레이아웃, WebSocket/Redis/Channels 구조, FastAPI 생성기, Docker/Grafana/K8s, 시나리오 패널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26개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38.8%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 xml:space="preserve">김재승 </a:t>
                      </a:r>
                      <a:r>
                        <a:rPr lang="en-US" sz="900">
                          <a:solidFill>
                            <a:srgbClr val="5F6B6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kjs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Chart.js 실시간 그래프, FastAPI-Django DB·WS 연동, 백오피스 전체(v1~v7), 운영 데이터 백업/초기화, 평면도 관리, ARIMA anomaly detector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27개</a:t>
                      </a:r>
                    </a:p>
                  </a:txBody>
                  <a:tcPr marL="40000" marR="4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40.3%</a:t>
                      </a:r>
                    </a:p>
                  </a:txBody>
                  <a:tcPr marL="40000" marR="40000" anchor="ctr">
                    <a:solidFill>
                      <a:srgbClr val="F2F6F4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 xml:space="preserve">이준호 </a:t>
                      </a:r>
                      <a:r>
                        <a:rPr lang="en-US" sz="900">
                          <a:solidFill>
                            <a:srgbClr val="5F6B6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ljh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유해가스 9종 표시, 서버 임계치 판별, 센서-지오펜스 연결, 전력 동적 임계치, 알람 체계 분리, Isolation Forest · ARIMA, 이벤트 현황 3탭 UI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13개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19.4%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 xml:space="preserve">서호준 </a:t>
                      </a:r>
                      <a:r>
                        <a:rPr lang="en-US" sz="900">
                          <a:solidFill>
                            <a:srgbClr val="5F6B6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shj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지도/평면도 업로드 저장, 유해가스 9종 행 위험도 색상, 알람 로그 그룹화, 작업자-센서 알람 표시 개선</a:t>
                      </a:r>
                    </a:p>
                  </a:txBody>
                  <a:tcPr marL="100000" marR="6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4개</a:t>
                      </a:r>
                    </a:p>
                  </a:txBody>
                  <a:tcPr marL="40000" marR="400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6E5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6.0%</a:t>
                      </a:r>
                    </a:p>
                  </a:txBody>
                  <a:tcPr marL="40000" marR="40000" anchor="ctr">
                    <a:solidFill>
                      <a:srgbClr val="F2F6F4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 xml:space="preserve">김나현 </a:t>
                      </a:r>
                      <a:r>
                        <a:rPr lang="en-US" sz="900">
                          <a:solidFill>
                            <a:srgbClr val="5F6B68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knh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2C33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DRF ORM·Serializer·APIView 초기 구조 (전체 API 레이어 기반), pre-commit 설정, 프로젝트 뼈대</a:t>
                      </a:r>
                    </a:p>
                  </a:txBody>
                  <a:tcPr marL="10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5F6B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기반설계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5F6B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40000" marR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note"/>
          <p:cNvSpPr/>
          <p:nvPr/>
        </p:nvSpPr>
        <p:spPr>
          <a:xfrm>
            <a:off x="548640" y="5840000"/>
            <a:ext cx="11094720" cy="44000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 w="9525">
            <a:solidFill>
              <a:srgbClr val="E3C58C"/>
            </a:solidFill>
          </a:ln>
        </p:spPr>
        <p:txBody>
          <a:bodyPr wrap="square" rtlCol="0" lIns="118000" anchor="ctr"/>
          <a:lstStyle/>
          <a:p>
            <a:pPr indent="0" marL="0">
              <a:buNone/>
            </a:pPr>
            <a:r>
              <a:rPr lang="en-US" sz="900" b="1">
                <a:solidFill>
                  <a:srgbClr val="9A5B16"/>
                </a:solidFill>
                <a:latin typeface="Malgun Gothic"/>
                <a:ea typeface="Malgun Gothic"/>
                <a:cs typeface="Malgun Gothic"/>
              </a:rPr>
              <a:t xml:space="preserve">기여 산정 기준 — </a:t>
            </a:r>
            <a:r>
              <a:rPr lang="en-US" sz="900">
                <a:solidFill>
                  <a:srgbClr val="6B4A1E"/>
                </a:solidFill>
                <a:latin typeface="Malgun Gothic"/>
                <a:ea typeface="Malgun Gothic"/>
                <a:cs typeface="Malgun Gothic"/>
              </a:rPr>
              <a:t>각자 본인 브랜치(dev_xxx) 커밋이 실제 기여. main 통합 머지는 주로 재승·서원이 담당했으므로 main author로 판단하지 않음. 총 세부기능 67개 (서브섹션 기준).</a:t>
            </a:r>
          </a:p>
        </p:txBody>
      </p:sp>
      <p:sp>
        <p:nvSpPr>
          <p:cNvPr id="60" name="foo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</a:p>
        </p:txBody>
      </p:sp>
      <p:sp>
        <p:nvSpPr>
          <p:cNvPr id="61" name="pg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SenSa 발표 템플릿</dc:title>
  <dc:subject>PptxGenJS Presentation</dc:subject>
  <dc:creator>SenSa Team</dc:creator>
  <cp:lastModifiedBy>SenSa Team</cp:lastModifiedBy>
  <cp:revision>1</cp:revision>
  <dcterms:created xsi:type="dcterms:W3CDTF">2026-06-09T05:10:11Z</dcterms:created>
  <dcterms:modified xsi:type="dcterms:W3CDTF">2026-06-09T05:10:11Z</dcterms:modified>
</cp:coreProperties>
</file>